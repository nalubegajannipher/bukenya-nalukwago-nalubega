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3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8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71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19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22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4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6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04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6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0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5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00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89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78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47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44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CBD26E5-4F3A-4414-85F3-744BA976029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BDC9D63-1747-4B7F-84C8-BFDB871AF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61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EB4BB64-D7D8-E728-E179-B0ABE16963E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56852" y="1012818"/>
            <a:ext cx="915383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PREDICTIVE MODEL FOR STUDENT DROPOUT IN UGANDAN SCHOOLS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USING MACHINE LEARNING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-ExtG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 NAME: NALUKWAGO RUTH    23/U/BIT/0727/K/D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              NALUBEGA JANNIPHER   23/U/BIT/0177/K/D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               BUKENYA YASIR     23/U/BIT/0282/K/D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-ExtG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48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E6AB-9E2F-70C4-5012-3880B3034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9097"/>
            <a:ext cx="10515600" cy="5537866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effectLst/>
              </a:rPr>
              <a:t>         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Develop a predictive model to classify students as 'Dropout', 'Enrolled', or 'Graduate' based on demographic, academic, and socioeconomic features.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Binary/multi-class classification using supervised learning on Portuguese university data (2010-2015).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Deliverables: Data pipeline, model training, evaluation metrics (Accuracy, F1-Score, ROC-AUC).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Identify at-risk students early for targeted interventions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033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98D9D-8E82-92E9-07CD-F82CFFD7F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2618"/>
            <a:ext cx="10515600" cy="60566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MOTIVATION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 Motivation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higher education dropout rates average 30-40% (UNESCO, 2023), costing institutions $XX billion annually in lost revenue.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methods (e.g., surveys) are reactive; ML enables proactive, data-driven insights.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Portugal (dataset context), economic factors like unemployment (up to 16.2% in data) correlate with dropout.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retention by 10-20% via early alerts; supports equity for underrepresented groups (e.g., international students).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integration of socioeconomic indicators (e.g., GDP, inflation) with academic performance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79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49AEA-8B4F-7E14-CE46-9E5C572AC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226142"/>
            <a:ext cx="11068665" cy="63516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</a:t>
            </a:r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- OVERVIEW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Dataset: Predict Students' Dropout and Academic Success (UCI  Repository)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UCI Machine Learning Repository (2019); anonymized data from two Portuguese institutions.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4,424 instances (students) × 37 attributes (36 features + 1 label).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Academic years 2010/2011 to 2014/2015.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Mixed (categorical: 18, numerical: 18); balanced but skewed toward 'Graduate'.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62BE5C-C049-41A2-74EB-435D9D626D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297419"/>
              </p:ext>
            </p:extLst>
          </p:nvPr>
        </p:nvGraphicFramePr>
        <p:xfrm>
          <a:off x="799332" y="2508610"/>
          <a:ext cx="8777286" cy="18407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25762">
                  <a:extLst>
                    <a:ext uri="{9D8B030D-6E8A-4147-A177-3AD203B41FA5}">
                      <a16:colId xmlns:a16="http://schemas.microsoft.com/office/drawing/2014/main" val="4035029190"/>
                    </a:ext>
                  </a:extLst>
                </a:gridCol>
                <a:gridCol w="2925762">
                  <a:extLst>
                    <a:ext uri="{9D8B030D-6E8A-4147-A177-3AD203B41FA5}">
                      <a16:colId xmlns:a16="http://schemas.microsoft.com/office/drawing/2014/main" val="2471142754"/>
                    </a:ext>
                  </a:extLst>
                </a:gridCol>
                <a:gridCol w="2925762">
                  <a:extLst>
                    <a:ext uri="{9D8B030D-6E8A-4147-A177-3AD203B41FA5}">
                      <a16:colId xmlns:a16="http://schemas.microsoft.com/office/drawing/2014/main" val="3995395480"/>
                    </a:ext>
                  </a:extLst>
                </a:gridCol>
              </a:tblGrid>
              <a:tr h="460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887161"/>
                  </a:ext>
                </a:extLst>
              </a:tr>
              <a:tr h="460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Graduate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317919"/>
                  </a:ext>
                </a:extLst>
              </a:tr>
              <a:tr h="460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Enrolled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265817"/>
                  </a:ext>
                </a:extLst>
              </a:tr>
              <a:tr h="460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7362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A80FF2-1A57-DD65-38EA-E4E0A5809E72}"/>
              </a:ext>
            </a:extLst>
          </p:cNvPr>
          <p:cNvSpPr txBox="1"/>
          <p:nvPr/>
        </p:nvSpPr>
        <p:spPr>
          <a:xfrm>
            <a:off x="720674" y="306947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Distribution: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648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6DFC-8BB4-7593-3AB6-0509A5971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7" y="458941"/>
            <a:ext cx="10515600" cy="56665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- FEATURES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Features and Labels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(8 features):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Marital status (1=Single, 6=Married), Gender (0=Male, 1=Female), Age at enrollment (18-70), Nationality (1-90), International (0=No, 1=Yes), Displaced (0=No, 1=Yes), Educational special needs (0=No, 1=Yes), Scholarship holder (0=No, 1=Yes).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(14 features):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mode (1-17), Course (33-9991), Daytime/evening attendance (0=Evening, 1=Daytime), Previous qualification (1=Secondary, 42=Other), Admission grade (0-200), Curricular units (enrolled/approved/grade/evaluations for Sem 1 &amp; 2; 0-26 units, grades 0-20).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Socioeconomic (6 features):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Mother's/Father's qualification (1-41), Occupations (0-12, 90=Unknown), Unemployment rate (6.9-16.2%), Inflation rate (-0.8-3.7%), GDP (-4.06-3.51%).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 (categorical: 'Dropout', 'Enrolled', 'Graduate') – Multi-class; can binarize to Dropout vs. Non-Dropout.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841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2B7B7-B4BC-890D-B21F-F7EDF2F4D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390115"/>
            <a:ext cx="10515600" cy="613850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DATA CLEANING STEPS - PART 1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 Preprocessing Pipeline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Loading &amp; Inspection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Pandas: df = pd.read_csv('Student_Dropout_rate.csv', sep=';'); Check shape (4424x37), dtypes, describe() for stats (e.g., mean admission grade=128.5).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Handle Encoding Issues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Remove BOM (UTF-8-SIG); Fix header quotes: Strip outer " and split by ';'; Replace tabs in column names (e.g., "Daytime/evening attendance").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Missing 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Dataset is clean (0% missing); Verify with df.isnull().sum().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Outlier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IQR for numerical (e.g., Age: Q1=18, Q3=20; cap extremes &gt;50).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959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5D45C1-6BB7-F3A1-B6B8-30C57F9CD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6251" y="272128"/>
                <a:ext cx="11245645" cy="62171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DATA CLEANING STEPS - PART 2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Data Preprocessing Pipeline (Cont.)</a:t>
                </a:r>
              </a:p>
              <a:p>
                <a:pPr lvl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Categorical Encoding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One-Hot for nominal (e.g., Marital status: 6 categories → 6 dummies); Label Encoding for ordinal (e.g., Previous qualification: 1-42).</a:t>
                </a:r>
              </a:p>
              <a:p>
                <a:pPr lvl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6: Numerical Scaling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StandardScaler for grades/units: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ar-A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mean=0, std=1); MinMaxScaler for rates (0-1 range).</a:t>
                </a:r>
              </a:p>
              <a:p>
                <a:pPr lvl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7: Feature Engineering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Create 'Sem1_GPA' = Curricular units 1st sem (grade); 'Total_Units_Approved' = Sum Sem1 + Sem2 approved; Binarize Target if needed.</a:t>
                </a:r>
              </a:p>
              <a:p>
                <a:pPr lvl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8: Train-Test Split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80/20 stratified: train_test_split(X, y,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test_size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=0.2, stratify=y).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5D45C1-6BB7-F3A1-B6B8-30C57F9CD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6251" y="272128"/>
                <a:ext cx="11245645" cy="6217162"/>
              </a:xfrm>
              <a:blipFill>
                <a:blip r:embed="rId2"/>
                <a:stretch>
                  <a:fillRect t="-3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39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23978-CB6B-DA2E-4C41-270BE7F6E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7" y="380282"/>
            <a:ext cx="10515600" cy="5941859"/>
          </a:xfrm>
        </p:spPr>
        <p:txBody>
          <a:bodyPr/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Exploratory Data Analysis (EDA)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 from EDA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positive: Admission grade vs. Sem1 grade (r=0.65); Negative: Unemployment rate vs. Graduate (r=-0.12).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Histograms (Age: skewed right); Boxplots (Grades by Target: Dropouts lower medians); Heatmap (top 5 features).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36% Dropout rate; Females (1) graduate more (38% vs. 32% males); Evening attendance (0) linked to higher dropout (45%).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 Handling: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SMOTE for oversampling minorities if needed.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75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881380-A315-DB99-99AC-1620AF3401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2226" y="324465"/>
                <a:ext cx="10515600" cy="603700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PROPOSED ALGORITHMS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Proposed Machine Learning Algorithm</a:t>
                </a: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Logistic Regression (Baseline)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Multi-class via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softmax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Probability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Simple, interpretable; Handles linear separations.</a:t>
                </a: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Random Forest (Ensemble)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Bagging of 100 trees; Gini impurity split: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Robust to overfitting, feature importance.</a:t>
                </a: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Support Vector Machine (SVM)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Kernel trick (RBF): Maximize margin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∣∣</m:t>
                        </m:r>
                      </m:den>
                    </m:f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non-linear boundaries; C=1.0 hyperparam.</a:t>
                </a:r>
              </a:p>
              <a:p>
                <a:pPr lvl="1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Neural Network (Advanced)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3-layer MLP: Hidden units=64, ReLU activation ; Dropout=0.2 to prevent overfitting.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881380-A315-DB99-99AC-1620AF3401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2226" y="324465"/>
                <a:ext cx="10515600" cy="6037005"/>
              </a:xfrm>
              <a:blipFill>
                <a:blip r:embed="rId2"/>
                <a:stretch>
                  <a:fillRect l="-232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266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3F210F5-E6E8-8A4E-71E1-29047D9B421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24696337"/>
                  </p:ext>
                </p:extLst>
              </p:nvPr>
            </p:nvGraphicFramePr>
            <p:xfrm>
              <a:off x="179849" y="1567730"/>
              <a:ext cx="10515600" cy="3345053"/>
            </p:xfrm>
            <a:graphic>
              <a:graphicData uri="http://schemas.openxmlformats.org/drawingml/2006/table">
                <a:tbl>
                  <a:tblPr>
                    <a:tableStyleId>{3C2FFA5D-87B4-456A-9821-1D502468CF0F}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437325715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3532241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59004226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297016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Algorithm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Type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Strengths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Formula/Key Eq.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35324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Logistic Reg.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Linear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Fast, probabilistic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2400"/>
                                  <m:t>𝑝</m:t>
                                </m:r>
                                <m:r>
                                  <a:rPr lang="ar-AE" sz="2400"/>
                                  <m:t>=</m:t>
                                </m:r>
                                <m:f>
                                  <m:fPr>
                                    <m:ctrlPr>
                                      <a:rPr lang="ar-AE" sz="2400"/>
                                    </m:ctrlPr>
                                  </m:fPr>
                                  <m:num>
                                    <m:r>
                                      <a:rPr lang="ar-AE" sz="2400"/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sz="2400"/>
                                      <m:t>1</m:t>
                                    </m:r>
                                    <m:r>
                                      <a:rPr lang="ar-AE" sz="2400"/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ar-AE" sz="2400"/>
                                        </m:ctrlPr>
                                      </m:sSupPr>
                                      <m:e>
                                        <m:r>
                                          <a:rPr lang="ar-AE" sz="2400"/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ar-AE" sz="2400"/>
                                          <m:t>−</m:t>
                                        </m:r>
                                        <m:r>
                                          <a:rPr lang="ar-AE" sz="2400"/>
                                          <m:t>𝑧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ar-AE" sz="24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802248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Ensemble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Handles mixed data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Gini split criterion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9483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SVM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Kernel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Effective in high-dim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$$ \min \frac{1}{2}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934714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Neural 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Deep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Captures complex patterns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Backprop: </a:t>
                          </a:r>
                          <a14:m>
                            <m:oMath xmlns:m="http://schemas.openxmlformats.org/officeDocument/2006/math">
                              <m:r>
                                <a:rPr lang="en-US" sz="2400"/>
                                <m:t>𝛿</m:t>
                              </m:r>
                              <m:r>
                                <a:rPr lang="en-US" sz="2400"/>
                                <m:t>=</m:t>
                              </m:r>
                              <m:f>
                                <m:fPr>
                                  <m:ctrlPr>
                                    <a:rPr lang="ar-AE" sz="2400"/>
                                  </m:ctrlPr>
                                </m:fPr>
                                <m:num>
                                  <m:r>
                                    <a:rPr lang="ar-AE" sz="2400"/>
                                    <m:t>𝜕</m:t>
                                  </m:r>
                                  <m:r>
                                    <a:rPr lang="ar-AE" sz="2400"/>
                                    <m:t>𝐿</m:t>
                                  </m:r>
                                </m:num>
                                <m:den>
                                  <m:r>
                                    <a:rPr lang="ar-AE" sz="2400"/>
                                    <m:t>𝜕</m:t>
                                  </m:r>
                                  <m:r>
                                    <a:rPr lang="ar-AE" sz="2400"/>
                                    <m:t>𝑤</m:t>
                                  </m:r>
                                </m:den>
                              </m:f>
                            </m:oMath>
                          </a14:m>
                          <a:endParaRPr lang="ar-AE" sz="24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21099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3F210F5-E6E8-8A4E-71E1-29047D9B421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24696337"/>
                  </p:ext>
                </p:extLst>
              </p:nvPr>
            </p:nvGraphicFramePr>
            <p:xfrm>
              <a:off x="179849" y="1567730"/>
              <a:ext cx="10515600" cy="3345053"/>
            </p:xfrm>
            <a:graphic>
              <a:graphicData uri="http://schemas.openxmlformats.org/drawingml/2006/table">
                <a:tbl>
                  <a:tblPr>
                    <a:tableStyleId>{3C2FFA5D-87B4-456A-9821-1D502468CF0F}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437325715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3532241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59004226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297016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Algorithm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Type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Strengths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Formula/Key Eq.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3532467"/>
                      </a:ext>
                    </a:extLst>
                  </a:tr>
                  <a:tr h="78473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Logistic Reg.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Linear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Fast, probabilistic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928" t="-64341" r="-464" b="-2852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802248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Ensemble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Handles mixed data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Gini split criterion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294836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SVM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Kernel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Effective in high-dim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$$ \min \frac{1}{2}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9347142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Neural 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Deep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Captures complex patterns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928" t="-312593" r="-464" b="-170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21099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1">
            <a:extLst>
              <a:ext uri="{FF2B5EF4-FFF2-40B4-BE49-F238E27FC236}">
                <a16:creationId xmlns:a16="http://schemas.microsoft.com/office/drawing/2014/main" id="{1E5ECEC5-F0A2-2111-87FF-3646A8E02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51" y="498366"/>
            <a:ext cx="1122843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Table comparison: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319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B0C27-88B4-9194-F105-D42790F9D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9" y="458941"/>
            <a:ext cx="11058832" cy="605001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FRAMEWORK AND IMPLEMENTATION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Technical Framework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&amp; Libraries: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3.12; Core: Pandas (data manip), Scikit-learn (ML   pipeline, metrics), Matplotlib/Seaborn (viz).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TensorFlow/Keras for Neural Nets; SMOTE from imblearn for balancing.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Preprocess: ColumnTransformer (OneHot + StandardScaler).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Pipeline([('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trans), ('model', clf)]).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Cross_val_score (5-fold); Metrics: F1-macro for multi-class.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RF: n_estimators=100; SVM: gamma='scale'; NN: epochs=50, optimizer=Adam.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Jupyter Notebook; Reproducible via requirements.txt.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956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C9661-4497-7372-40A3-1AE6F69C5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2" y="390115"/>
            <a:ext cx="11117826" cy="598118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EXPECTED RESULTS &amp; EVALUATION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Performance &amp; Next Steps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~85%; F1-Score (macro) ~0.82; Confusion Matrix for class errors.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RF outperforms baseline by 5-10% on Dropout recall.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Top: Sem1 grade (0.25), Unemployment (0.15), Admission grade (0.12).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 data (no real-time); Assumes no external shocks (e.g., COVID).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as web app (Streamlit); Incorporate time-series (e.g., LSTM for progression).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8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D8447-DFE1-F450-D72F-FE377EAD5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12" y="360619"/>
            <a:ext cx="11176819" cy="5774710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 &amp; Q&amp;A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Leveraged rich dataset for ML-based dropout prediction; Clean pipeline + robust algos yield actionable insights.</a:t>
            </a:r>
          </a:p>
          <a:p>
            <a:pPr lvl="1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socioeconomic factors boosts model accuracy; Potential to reduce dropout by enabling interventions.</a:t>
            </a:r>
          </a:p>
          <a:p>
            <a:pPr lvl="1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to Action: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in universities for real impact.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011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21</TotalTime>
  <Words>1426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Corbel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Jannipher Nalubega</dc:creator>
  <cp:lastModifiedBy>Jannipher Nalubega</cp:lastModifiedBy>
  <cp:revision>9</cp:revision>
  <dcterms:created xsi:type="dcterms:W3CDTF">2025-11-04T23:27:19Z</dcterms:created>
  <dcterms:modified xsi:type="dcterms:W3CDTF">2025-11-12T12:56:40Z</dcterms:modified>
</cp:coreProperties>
</file>